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FF00"/>
              </a:solidFill>
              <a:effectLst/>
            </c:spPr>
          </c:dPt>
          <c:dPt>
            <c:idx val="1"/>
            <c:bubble3D val="0"/>
            <c:spPr>
              <a:solidFill>
                <a:srgbClr val="00D4AA"/>
              </a:solidFill>
              <a:effectLst/>
            </c:spPr>
          </c:dPt>
          <c:dPt>
            <c:idx val="2"/>
            <c:bubble3D val="0"/>
            <c:spPr>
              <a:solidFill>
                <a:srgbClr val="9D94F0"/>
              </a:solidFill>
              <a:effectLst/>
            </c:spPr>
          </c:dPt>
          <c:dPt>
            <c:idx val="3"/>
            <c:bubble3D val="0"/>
            <c:spPr>
              <a:solidFill>
                <a:srgbClr val="FFD166"/>
              </a:solidFill>
              <a:effectLst/>
            </c:spPr>
          </c:dPt>
          <c:dPt>
            <c:idx val="4"/>
            <c:bubble3D val="0"/>
            <c:spPr>
              <a:solidFill>
                <a:srgbClr val="FF5733"/>
              </a:solidFill>
              <a:effectLst/>
            </c:spPr>
          </c:dPt>
          <c:dPt>
            <c:idx val="5"/>
            <c:bubble3D val="0"/>
            <c:spPr>
              <a:solidFill>
                <a:srgbClr val="38BDF8"/>
              </a:solidFill>
              <a:effectLst/>
            </c:spPr>
          </c:dPt>
          <c:dPt>
            <c:idx val="6"/>
            <c:bubble3D val="0"/>
            <c:spPr>
              <a:solidFill>
                <a:srgbClr val="A78BF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Ecosystem &amp; Rewards</c:v>
                </c:pt>
                <c:pt idx="1">
                  <c:v>Liquidity</c:v>
                </c:pt>
                <c:pt idx="2">
                  <c:v>Development</c:v>
                </c:pt>
                <c:pt idx="3">
                  <c:v>Treasury</c:v>
                </c:pt>
                <c:pt idx="4">
                  <c:v>Marketing</c:v>
                </c:pt>
                <c:pt idx="5">
                  <c:v>Team</c:v>
                </c:pt>
                <c:pt idx="6">
                  <c:v>Advisors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30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5733"/>
              </a:solidFill>
              <a:effectLst/>
            </c:spPr>
          </c:dPt>
          <c:dPt>
            <c:idx val="1"/>
            <c:bubble3D val="0"/>
            <c:spPr>
              <a:solidFill>
                <a:srgbClr val="C8FF00"/>
              </a:solidFill>
              <a:effectLst/>
            </c:spPr>
          </c:dPt>
          <c:dPt>
            <c:idx val="2"/>
            <c:bubble3D val="0"/>
            <c:spPr>
              <a:solidFill>
                <a:srgbClr val="7B6FE8"/>
              </a:solidFill>
              <a:effectLst/>
            </c:spPr>
          </c:dPt>
          <c:dPt>
            <c:idx val="3"/>
            <c:bubble3D val="0"/>
            <c:spPr>
              <a:solidFill>
                <a:srgbClr val="FFD16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B0A12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🔥 Buyback &amp; Burn 30%</c:v>
                </c:pt>
                <c:pt idx="1">
                  <c:v>💎 Staking Rewards 40%</c:v>
                </c:pt>
                <c:pt idx="2">
                  <c:v>⚙️ Development 20%</c:v>
                </c:pt>
                <c:pt idx="3">
                  <c:v>🏦 Treasury 10%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40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6C3CE1">
              <a:alpha val="15000"/>
            </a:srgbClr>
          </a:solidFill>
          <a:ln w="12700">
            <a:solidFill>
              <a:srgbClr val="6C3CE1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91440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$CORA</a:t>
            </a:r>
            <a:endParaRPr lang="en-US" sz="10000" dirty="0"/>
          </a:p>
        </p:txBody>
      </p:sp>
      <p:sp>
        <p:nvSpPr>
          <p:cNvPr id="22" name="Text 20"/>
          <p:cNvSpPr/>
          <p:nvPr/>
        </p:nvSpPr>
        <p:spPr>
          <a:xfrm>
            <a:off x="50292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ECONOMICS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CoraAiVault · BNB Smart Chain · 2025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188720" y="4251960"/>
            <a:ext cx="1508760" cy="685800"/>
          </a:xfrm>
          <a:prstGeom prst="roundRect">
            <a:avLst>
              <a:gd name="adj" fmla="val 9333"/>
            </a:avLst>
          </a:prstGeom>
          <a:solidFill>
            <a:srgbClr val="1C1929"/>
          </a:solidFill>
          <a:ln w="12700">
            <a:solidFill>
              <a:srgbClr val="332D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42793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1,000,000,000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4599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926080" y="4251960"/>
            <a:ext cx="1508760" cy="685800"/>
          </a:xfrm>
          <a:prstGeom prst="roundRect">
            <a:avLst>
              <a:gd name="adj" fmla="val 9333"/>
            </a:avLst>
          </a:prstGeom>
          <a:solidFill>
            <a:srgbClr val="1C1929"/>
          </a:solidFill>
          <a:ln w="12700">
            <a:solidFill>
              <a:srgbClr val="332D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42793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BEP-20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6080" y="4599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663440" y="4251960"/>
            <a:ext cx="1508760" cy="685800"/>
          </a:xfrm>
          <a:prstGeom prst="roundRect">
            <a:avLst>
              <a:gd name="adj" fmla="val 9333"/>
            </a:avLst>
          </a:prstGeom>
          <a:solidFill>
            <a:srgbClr val="1C1929"/>
          </a:solidFill>
          <a:ln w="12700">
            <a:solidFill>
              <a:srgbClr val="332D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2793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4599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MINT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400800" y="4251960"/>
            <a:ext cx="1508760" cy="685800"/>
          </a:xfrm>
          <a:prstGeom prst="roundRect">
            <a:avLst>
              <a:gd name="adj" fmla="val 9333"/>
            </a:avLst>
          </a:prstGeom>
          <a:solidFill>
            <a:srgbClr val="1C1929"/>
          </a:solidFill>
          <a:ln w="12700">
            <a:solidFill>
              <a:srgbClr val="332D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27939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4599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2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$CORA at a glance.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native utility token powering every aspect of the CoraAiVault ecosystem — from fee discounts and governance to AI access and staking rewards.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1,000,000,000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Supply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forever. No additional minting.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1214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 BNB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8348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Fee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880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source for buyback mechanism.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493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 &amp; Burn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revenue → permanent supply reduction.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33832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4930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BEP-20 precision.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1 billion go.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37160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499616"/>
            <a:ext cx="201168" cy="201168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0" y="1371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80644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&amp; Rewards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06440" y="16093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300,000,000 CORA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5029200" y="2002536"/>
            <a:ext cx="201168" cy="20116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06440" y="1874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806440" y="21122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200,000,000 CORA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029200" y="2505456"/>
            <a:ext cx="201168" cy="201168"/>
          </a:xfrm>
          <a:prstGeom prst="ellipse">
            <a:avLst/>
          </a:prstGeom>
          <a:solidFill>
            <a:srgbClr val="9D94F0"/>
          </a:solidFill>
          <a:ln w="12700">
            <a:solidFill>
              <a:srgbClr val="9D94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D9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0644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806440" y="2615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150,000,000 CORA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029200" y="3008376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0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06440" y="2880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806440" y="31181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100,000,000 CORA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029200" y="3511296"/>
            <a:ext cx="201168" cy="201168"/>
          </a:xfrm>
          <a:prstGeom prst="ellipse">
            <a:avLst/>
          </a:prstGeom>
          <a:solidFill>
            <a:srgbClr val="FF5733"/>
          </a:solidFill>
          <a:ln w="12700">
            <a:solidFill>
              <a:srgbClr val="FF57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06440" y="3383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806440" y="36210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100,000,000 CORA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029200" y="4014216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03520" y="3886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06440" y="3886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06440" y="41239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100,000,000 CORA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029200" y="4517136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03520" y="4389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806440" y="4389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806440" y="46268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50,000,000 CORA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 SCHEDULE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Locked. Accountable. Transparent.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team, advisor, and development tokens are locked on CoraAiVault at launch. Every lock is publicly verifiable on BSCScan.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1110996" cy="347472"/>
          </a:xfrm>
          <a:prstGeom prst="roundRect">
            <a:avLst>
              <a:gd name="adj" fmla="val 13158"/>
            </a:avLst>
          </a:prstGeom>
          <a:solidFill>
            <a:srgbClr val="C8FF00">
              <a:alpha val="25000"/>
            </a:srgbClr>
          </a:solidFill>
          <a:ln w="12700">
            <a:solidFill>
              <a:srgbClr val="C8FF00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&amp; Rewards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46120" y="1920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74904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None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06440" y="1920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months linear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295144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95144"/>
            <a:ext cx="740664" cy="347472"/>
          </a:xfrm>
          <a:prstGeom prst="roundRect">
            <a:avLst>
              <a:gd name="adj" fmla="val 13158"/>
            </a:avLst>
          </a:prstGeom>
          <a:solidFill>
            <a:srgbClr val="00D4AA">
              <a:alpha val="25000"/>
            </a:srgbClr>
          </a:solidFill>
          <a:ln w="12700">
            <a:solidFill>
              <a:srgbClr val="00D4A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40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46120" y="2340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49040" y="23408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None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06440" y="23408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on CoraAiVault at launch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715768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715768"/>
            <a:ext cx="555498" cy="347472"/>
          </a:xfrm>
          <a:prstGeom prst="roundRect">
            <a:avLst>
              <a:gd name="adj" fmla="val 13158"/>
            </a:avLst>
          </a:prstGeom>
          <a:solidFill>
            <a:srgbClr val="9D94F0">
              <a:alpha val="25000"/>
            </a:srgbClr>
          </a:solidFill>
          <a:ln w="12700">
            <a:solidFill>
              <a:srgbClr val="9D94F0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761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7614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D9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749040" y="2761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3 months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06440" y="2761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months linear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3136392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136392"/>
            <a:ext cx="370332" cy="347472"/>
          </a:xfrm>
          <a:prstGeom prst="roundRect">
            <a:avLst>
              <a:gd name="adj" fmla="val 13158"/>
            </a:avLst>
          </a:prstGeom>
          <a:solidFill>
            <a:srgbClr val="FFD166">
              <a:alpha val="25000"/>
            </a:srgbClr>
          </a:solidFill>
          <a:ln w="12700">
            <a:solidFill>
              <a:srgbClr val="FFD166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46120" y="3182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49040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None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06440" y="3182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 controlled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02920" y="3557016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557016"/>
            <a:ext cx="370332" cy="347472"/>
          </a:xfrm>
          <a:prstGeom prst="roundRect">
            <a:avLst>
              <a:gd name="adj" fmla="val 13158"/>
            </a:avLst>
          </a:prstGeom>
          <a:solidFill>
            <a:srgbClr val="FF5733">
              <a:alpha val="25000"/>
            </a:srgbClr>
          </a:solidFill>
          <a:ln w="12700">
            <a:solidFill>
              <a:srgbClr val="FF5733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46120" y="36027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749040" y="3602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None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06440" y="36027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 linear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" y="397764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3977640"/>
            <a:ext cx="370332" cy="347472"/>
          </a:xfrm>
          <a:prstGeom prst="roundRect">
            <a:avLst>
              <a:gd name="adj" fmla="val 13158"/>
            </a:avLst>
          </a:prstGeom>
          <a:solidFill>
            <a:srgbClr val="38BDF8">
              <a:alpha val="2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023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46120" y="4023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749040" y="4023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6 months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06440" y="40233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linear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2920" y="4398264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398264"/>
            <a:ext cx="185166" cy="347472"/>
          </a:xfrm>
          <a:prstGeom prst="roundRect">
            <a:avLst>
              <a:gd name="adj" fmla="val 24691"/>
            </a:avLst>
          </a:prstGeom>
          <a:solidFill>
            <a:srgbClr val="A78BFA">
              <a:alpha val="25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443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46120" y="44439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749040" y="4443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Cliff: 3 months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806440" y="4443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 linear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UTILITY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reasons to hold $CORA.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2648" y="2039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Discounts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648" y="2386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50% off lock fees for Tier 3 holders. Sliding scale based on balance.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🗳️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93008" y="2039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2386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token = 1 vote on fees, chain deployments, treasury, and protocol direction.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600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73368" y="2039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73368" y="238658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scanning, real-time monitoring, and wallet alerts gated behind $CORA staking.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💎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Staking Rewards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" y="40325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 share of platform revenue weekly. 2x multiplier for 12+ month stakers.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93008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40325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placement and verification badges in the public project directory.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63640" y="315468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3246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73368" y="36850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73368" y="403250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building on CoraAiVault data must stake $CORA for access.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FF5733">
              <a:alpha val="12000"/>
            </a:srgbClr>
          </a:solidFill>
          <a:ln w="12700">
            <a:solidFill>
              <a:srgbClr val="FF5733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DEFLATIONARY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goes down over time.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on-chain mechanisms permanently reduce circulating supply as the platform grows.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8229600" cy="868680"/>
          </a:xfrm>
          <a:prstGeom prst="roundRect">
            <a:avLst>
              <a:gd name="adj" fmla="val 94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 &amp; Burn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359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2011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BNB platform revenue is used to purchase $CORA from the open market and permanently burn it. Direct, continuous buy pressure tied to every lock created.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8229600" cy="868680"/>
          </a:xfrm>
          <a:prstGeom prst="roundRect">
            <a:avLst>
              <a:gd name="adj" fmla="val 94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Burns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3346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29992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percentage of every premium subscription paid in $CORA is burned rather than redistributed. Platform growth directly reduces token supply.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895344"/>
            <a:ext cx="8229600" cy="868680"/>
          </a:xfrm>
          <a:prstGeom prst="roundRect">
            <a:avLst>
              <a:gd name="adj" fmla="val 9474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986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Burns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3342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voted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398678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quarter, $CORA holders vote on an additional burn event proportional to platform performance. Predictable, community-controlled deflationary milestones.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revenue. Real distribution.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3716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54880" y="1783080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64608" y="185623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30368" y="18196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Creation Fees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230368" y="20299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 BNB / lock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754880" y="2304288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64608" y="23774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🤖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30368" y="23408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Subscriptions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230368" y="25511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$10–$50 / month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754880" y="2825496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64608" y="28986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🏅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30368" y="28620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Badges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230368" y="30723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$50–$200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754880" y="334670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341985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🔌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30368" y="3383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230368" y="35935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$CORA stake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754880" y="3867912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394106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⭐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30368" y="3904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230368" y="4114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$100–$500 / mo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754880" y="4389120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64608" y="446227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📅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230368" y="442569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Vesting Engine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230368" y="46360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 BNB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$CORA LAUNCH 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full ecosystem.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8138160" cy="0"/>
          </a:xfrm>
          <a:prstGeom prst="line">
            <a:avLst/>
          </a:prstGeom>
          <a:noFill/>
          <a:ln w="25400">
            <a:solidFill>
              <a:srgbClr val="332D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719072"/>
            <a:ext cx="402336" cy="402336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214884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Launch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$CORA · PancakeSwap listing · Liquidity lock · Initial distribution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10712" y="1719072"/>
            <a:ext cx="402336" cy="402336"/>
          </a:xfrm>
          <a:prstGeom prst="ellipse">
            <a:avLst/>
          </a:prstGeom>
          <a:solidFill>
            <a:srgbClr val="7B6FE8"/>
          </a:solidFill>
          <a:ln w="12700">
            <a:solidFill>
              <a:srgbClr val="7B6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87752" y="214884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&amp; Staking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9192" y="2606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7B6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679192" y="2907792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CoinGecko · CMC · $CORA staking · Governance launch · Multi-chain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86984" y="1719072"/>
            <a:ext cx="402336" cy="402336"/>
          </a:xfrm>
          <a:prstGeom prst="ellipse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64024" y="214884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Premium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55464" y="2606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55464" y="2907792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subscriptions · Premium API · Tier system · Mobile app · DexTools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63256" y="1719072"/>
            <a:ext cx="402336" cy="40233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40296" y="214884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31736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31736" y="2606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031736" y="2907792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Tier-1 CEX · Institutional vault · DAO governance · Solana · 100k locks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C192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-1828800"/>
            <a:ext cx="7315200" cy="7315200"/>
          </a:xfrm>
          <a:prstGeom prst="ellipse">
            <a:avLst/>
          </a:prstGeom>
          <a:solidFill>
            <a:srgbClr val="6C3CE1">
              <a:alpha val="14000"/>
            </a:srgbClr>
          </a:solidFill>
          <a:ln w="12700">
            <a:solidFill>
              <a:srgbClr val="6C3CE1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7315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$CORA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50292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4BF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1,000,000,000 · Fixed Supply · Deflationary · BNB Chain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1051560" cy="731520"/>
          </a:xfrm>
          <a:prstGeom prst="roundRect">
            <a:avLst>
              <a:gd name="adj" fmla="val 875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63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4107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691640" y="3017520"/>
            <a:ext cx="1051560" cy="731520"/>
          </a:xfrm>
          <a:prstGeom prst="roundRect">
            <a:avLst>
              <a:gd name="adj" fmla="val 875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3063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91640" y="34107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880360" y="3017520"/>
            <a:ext cx="1051560" cy="731520"/>
          </a:xfrm>
          <a:prstGeom prst="roundRect">
            <a:avLst>
              <a:gd name="adj" fmla="val 875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3063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80360" y="34107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069080" y="3017520"/>
            <a:ext cx="1051560" cy="731520"/>
          </a:xfrm>
          <a:prstGeom prst="roundRect">
            <a:avLst>
              <a:gd name="adj" fmla="val 875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3063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69080" y="34107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257800" y="3017520"/>
            <a:ext cx="1051560" cy="731520"/>
          </a:xfrm>
          <a:prstGeom prst="roundRect">
            <a:avLst>
              <a:gd name="adj" fmla="val 875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063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34107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446520" y="3017520"/>
            <a:ext cx="1051560" cy="731520"/>
          </a:xfrm>
          <a:prstGeom prst="roundRect">
            <a:avLst>
              <a:gd name="adj" fmla="val 875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3063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34107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635240" y="3017520"/>
            <a:ext cx="1051560" cy="731520"/>
          </a:xfrm>
          <a:prstGeom prst="roundRect">
            <a:avLst>
              <a:gd name="adj" fmla="val 8750"/>
            </a:avLst>
          </a:prstGeom>
          <a:solidFill>
            <a:srgbClr val="13111F"/>
          </a:solidFill>
          <a:ln w="12700">
            <a:solidFill>
              <a:srgbClr val="241F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3063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35240" y="34107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292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B85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coraaivault.xyz  ·  x.com/CoraAivault  ·  t.me/coraaivault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2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Contract: 0x429aAa8a83Ea0e4D10052e4aF4DDE75c8f8d1223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CoraAiVault $CORA Tokenomics</dc:title>
  <dc:subject>PptxGenJS Presentation</dc:subject>
  <dc:creator>PptxGenJS</dc:creator>
  <cp:lastModifiedBy>PptxGenJS</cp:lastModifiedBy>
  <cp:revision>1</cp:revision>
  <dcterms:created xsi:type="dcterms:W3CDTF">2026-06-17T07:52:48Z</dcterms:created>
  <dcterms:modified xsi:type="dcterms:W3CDTF">2026-06-17T07:52:48Z</dcterms:modified>
</cp:coreProperties>
</file>