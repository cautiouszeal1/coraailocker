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FF00"/>
              </a:solidFill>
              <a:effectLst/>
            </c:spPr>
          </c:dPt>
          <c:dPt>
            <c:idx val="1"/>
            <c:bubble3D val="0"/>
            <c:spPr>
              <a:solidFill>
                <a:srgbClr val="00D4AA"/>
              </a:solidFill>
              <a:effectLst/>
            </c:spPr>
          </c:dPt>
          <c:dPt>
            <c:idx val="2"/>
            <c:bubble3D val="0"/>
            <c:spPr>
              <a:solidFill>
                <a:srgbClr val="9D94F0"/>
              </a:solidFill>
              <a:effectLst/>
            </c:spPr>
          </c:dPt>
          <c:dPt>
            <c:idx val="3"/>
            <c:bubble3D val="0"/>
            <c:spPr>
              <a:solidFill>
                <a:srgbClr val="FFD166"/>
              </a:solidFill>
              <a:effectLst/>
            </c:spPr>
          </c:dPt>
          <c:dPt>
            <c:idx val="4"/>
            <c:bubble3D val="0"/>
            <c:spPr>
              <a:solidFill>
                <a:srgbClr val="FF5733"/>
              </a:solidFill>
              <a:effectLst/>
            </c:spPr>
          </c:dPt>
          <c:dPt>
            <c:idx val="5"/>
            <c:bubble3D val="0"/>
            <c:spPr>
              <a:solidFill>
                <a:srgbClr val="38BDF8"/>
              </a:solidFill>
              <a:effectLst/>
            </c:spPr>
          </c:dPt>
          <c:dPt>
            <c:idx val="6"/>
            <c:bubble3D val="0"/>
            <c:spPr>
              <a:solidFill>
                <a:srgbClr val="A78BF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Ecosystem 30%</c:v>
                </c:pt>
                <c:pt idx="1">
                  <c:v>Liquidity 20%</c:v>
                </c:pt>
                <c:pt idx="2">
                  <c:v>Development 15%</c:v>
                </c:pt>
                <c:pt idx="3">
                  <c:v>Treasury 10%</c:v>
                </c:pt>
                <c:pt idx="4">
                  <c:v>Marketing 10%</c:v>
                </c:pt>
                <c:pt idx="5">
                  <c:v>Team 10%</c:v>
                </c:pt>
                <c:pt idx="6">
                  <c:v>Advisors 5%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30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733"/>
              </a:solidFill>
              <a:effectLst/>
            </c:spPr>
          </c:dPt>
          <c:dPt>
            <c:idx val="1"/>
            <c:bubble3D val="0"/>
            <c:spPr>
              <a:solidFill>
                <a:srgbClr val="C8FF00"/>
              </a:solidFill>
              <a:effectLst/>
            </c:spPr>
          </c:dPt>
          <c:dPt>
            <c:idx val="2"/>
            <c:bubble3D val="0"/>
            <c:spPr>
              <a:solidFill>
                <a:srgbClr val="7B6FE8"/>
              </a:solidFill>
              <a:effectLst/>
            </c:spPr>
          </c:dPt>
          <c:dPt>
            <c:idx val="3"/>
            <c:bubble3D val="0"/>
            <c:spPr>
              <a:solidFill>
                <a:srgbClr val="FFD16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Buyback &amp; Burn 30%</c:v>
                </c:pt>
                <c:pt idx="1">
                  <c:v>Staking Rewards 40%</c:v>
                </c:pt>
                <c:pt idx="2">
                  <c:v>Development 20%</c:v>
                </c:pt>
                <c:pt idx="3">
                  <c:v>Treasury 10%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30</c:v>
                </c:pt>
                <c:pt idx="1">
                  <c:v>40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6C3CE1">
              <a:alpha val="15000"/>
            </a:srgbClr>
          </a:solidFill>
          <a:ln w="12700">
            <a:solidFill>
              <a:srgbClr val="6C3CE1">
                <a:alpha val="1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CORAAI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$CRVT TOKENOMICS 2025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BingX · KuCoin · BSC Mainnet ·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CEX listing in Phase 2.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8138160" cy="0"/>
          </a:xfrm>
          <a:prstGeom prst="line">
            <a:avLst/>
          </a:prstGeom>
          <a:noFill/>
          <a:ln w="25400">
            <a:solidFill>
              <a:srgbClr val="332D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719072"/>
            <a:ext cx="402336" cy="40233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2148840"/>
            <a:ext cx="1572768" cy="2743200"/>
          </a:xfrm>
          <a:prstGeom prst="roundRect">
            <a:avLst>
              <a:gd name="adj" fmla="val 4651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221284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257860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84632" y="2880360"/>
            <a:ext cx="14264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BSC · Token locking · LP locking · dApp live · Scanner · Certificates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788920" y="1719072"/>
            <a:ext cx="402336" cy="40233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12344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30552" y="2148840"/>
            <a:ext cx="1572768" cy="2743200"/>
          </a:xfrm>
          <a:prstGeom prst="roundRect">
            <a:avLst>
              <a:gd name="adj" fmla="val 4651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03704" y="221284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&amp; CEX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03704" y="257860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203704" y="2880360"/>
            <a:ext cx="14264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$CRVT launch · Coming to CEX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07992" y="1719072"/>
            <a:ext cx="402336" cy="402336"/>
          </a:xfrm>
          <a:prstGeom prst="ellipse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9624" y="12344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9624" y="2148840"/>
            <a:ext cx="1572768" cy="2743200"/>
          </a:xfrm>
          <a:prstGeom prst="roundRect">
            <a:avLst>
              <a:gd name="adj" fmla="val 4651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22776" y="221284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22776" y="257860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7B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922776" y="2880360"/>
            <a:ext cx="14264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Ethereum · Base · Polygon · Arbitrum · Staking · Governance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227064" y="1719072"/>
            <a:ext cx="402336" cy="40233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68696" y="12344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568696" y="2148840"/>
            <a:ext cx="1572768" cy="2743200"/>
          </a:xfrm>
          <a:prstGeom prst="roundRect">
            <a:avLst>
              <a:gd name="adj" fmla="val 4651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41848" y="221284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41848" y="257860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641848" y="2880360"/>
            <a:ext cx="14264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risk engine · Real-time scan · Wallet alerts · Trust scores · Mobile app · Subscriptions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946136" y="1719072"/>
            <a:ext cx="402336" cy="402336"/>
          </a:xfrm>
          <a:prstGeom prst="ellipse">
            <a:avLst/>
          </a:prstGeom>
          <a:solidFill>
            <a:srgbClr val="8B85A8"/>
          </a:solidFill>
          <a:ln w="12700">
            <a:solidFill>
              <a:srgbClr val="8B85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87768" y="12344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05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287768" y="2148840"/>
            <a:ext cx="1572768" cy="2743200"/>
          </a:xfrm>
          <a:prstGeom prst="roundRect">
            <a:avLst>
              <a:gd name="adj" fmla="val 4651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221284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60920" y="257860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360920" y="2880360"/>
            <a:ext cx="14264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· Institutional · DAO tools · Full governance · CEX expansion · 100k locks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$CRVT at a glance.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native utility token powering every aspect of the CoraAiVault ecosystem — fee discounts, governance, AI access, and staking rewards.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214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5,000,000,000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Supply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Fixed. No minting after deployment.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46320" y="20116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21214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 BNB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83480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Fee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83480" y="2880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source for buyback mechanism.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930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Buyback &amp; Burn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251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revenue → permanent supply reduction.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46320" y="33832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4930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8348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CEX Listing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4251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to CEX — announcement coming.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5 billion go.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37160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1499616"/>
            <a:ext cx="201168" cy="201168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352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806440" y="1371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&amp; Rewards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06440" y="16093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1,500,000,000 CRVT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5029200" y="2002536"/>
            <a:ext cx="201168" cy="20116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06440" y="1874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806440" y="21122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1,000,000,000 CRVT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029200" y="2505456"/>
            <a:ext cx="201168" cy="201168"/>
          </a:xfrm>
          <a:prstGeom prst="ellipse">
            <a:avLst/>
          </a:prstGeom>
          <a:solidFill>
            <a:srgbClr val="9D94F0"/>
          </a:solidFill>
          <a:ln w="12700">
            <a:solidFill>
              <a:srgbClr val="9D94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9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0644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06440" y="2615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750,000,000 CRVT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029200" y="3008376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03520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06440" y="2880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806440" y="31181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500,000,000 CRVT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029200" y="3511296"/>
            <a:ext cx="201168" cy="201168"/>
          </a:xfrm>
          <a:prstGeom prst="ellipse">
            <a:avLst/>
          </a:prstGeom>
          <a:solidFill>
            <a:srgbClr val="FF5733"/>
          </a:solidFill>
          <a:ln w="12700">
            <a:solidFill>
              <a:srgbClr val="FF57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03520" y="3383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806440" y="3383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806440" y="36210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500,000,000 CRVT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029200" y="4014216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03520" y="3886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806440" y="3886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806440" y="41239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500,000,000 CRVT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5029200" y="4517136"/>
            <a:ext cx="201168" cy="2011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03520" y="4389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806440" y="4389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806440" y="46268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250,000,000 CRVT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VESTING SCHEDULE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Locked. Accountable. Transparent.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team, advisor, and development tokens are locked on CoraAiVault at launch. Publicly verifiable on BSCScan.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1110996" cy="347472"/>
          </a:xfrm>
          <a:prstGeom prst="roundRect">
            <a:avLst>
              <a:gd name="adj" fmla="val 13158"/>
            </a:avLst>
          </a:prstGeom>
          <a:solidFill>
            <a:srgbClr val="C8FF00">
              <a:alpha val="25000"/>
            </a:srgbClr>
          </a:solidFill>
          <a:ln w="12700">
            <a:solidFill>
              <a:srgbClr val="C8FF00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&amp; Rewards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46120" y="1920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749040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Cliff: None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06440" y="19202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months linear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2295144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295144"/>
            <a:ext cx="740664" cy="347472"/>
          </a:xfrm>
          <a:prstGeom prst="roundRect">
            <a:avLst>
              <a:gd name="adj" fmla="val 13158"/>
            </a:avLst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408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46120" y="23408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49040" y="23408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Cliff: None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806440" y="23408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on CoraAiVault at launch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2715768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715768"/>
            <a:ext cx="555498" cy="347472"/>
          </a:xfrm>
          <a:prstGeom prst="roundRect">
            <a:avLst>
              <a:gd name="adj" fmla="val 13158"/>
            </a:avLst>
          </a:prstGeom>
          <a:solidFill>
            <a:srgbClr val="9D94F0">
              <a:alpha val="25000"/>
            </a:srgbClr>
          </a:solidFill>
          <a:ln w="12700">
            <a:solidFill>
              <a:srgbClr val="9D94F0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7614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46120" y="27614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D9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749040" y="2761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Cliff: 3 months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806440" y="27614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months linear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3136392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136392"/>
            <a:ext cx="370332" cy="347472"/>
          </a:xfrm>
          <a:prstGeom prst="roundRect">
            <a:avLst>
              <a:gd name="adj" fmla="val 13158"/>
            </a:avLst>
          </a:prstGeom>
          <a:solidFill>
            <a:srgbClr val="FFD166">
              <a:alpha val="25000"/>
            </a:srgbClr>
          </a:solidFill>
          <a:ln w="1270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182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46120" y="3182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749040" y="3182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Cliff: None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06440" y="31821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DAO controlled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" y="3557016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557016"/>
            <a:ext cx="370332" cy="347472"/>
          </a:xfrm>
          <a:prstGeom prst="roundRect">
            <a:avLst>
              <a:gd name="adj" fmla="val 13158"/>
            </a:avLst>
          </a:prstGeom>
          <a:solidFill>
            <a:srgbClr val="FF5733">
              <a:alpha val="25000"/>
            </a:srgbClr>
          </a:solidFill>
          <a:ln w="12700">
            <a:solidFill>
              <a:srgbClr val="FF5733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602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46120" y="36027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749040" y="36027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Cliff: None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806440" y="36027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months linear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2920" y="3977640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3977640"/>
            <a:ext cx="370332" cy="347472"/>
          </a:xfrm>
          <a:prstGeom prst="roundRect">
            <a:avLst>
              <a:gd name="adj" fmla="val 13158"/>
            </a:avLst>
          </a:prstGeom>
          <a:solidFill>
            <a:srgbClr val="38BDF8">
              <a:alpha val="25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023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246120" y="40233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749040" y="4023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Cliff: 6 months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806440" y="4023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 linear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2920" y="4398264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4398264"/>
            <a:ext cx="185166" cy="347472"/>
          </a:xfrm>
          <a:prstGeom prst="roundRect">
            <a:avLst>
              <a:gd name="adj" fmla="val 24691"/>
            </a:avLst>
          </a:prstGeom>
          <a:solidFill>
            <a:srgbClr val="A78BFA">
              <a:alpha val="25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443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246120" y="44439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749040" y="44439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Cliff: 3 months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806440" y="44439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months linear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UTILITY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reasons to hold $CRVT.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2648" y="2039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Discounts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12648" y="238658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50% off lock fees for Tier 3 holders.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🗳️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93008" y="2039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93008" y="238658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token = 1 vote on fees, chains, and protocol direction.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63640" y="15087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73368" y="2039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Access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73368" y="238658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scanning and monitoring gated behind $CRVT staking.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31546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46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💎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2648" y="3685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Staking Rewards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" y="40325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revenue share. 2x multiplier for 12+ month stakers.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83280" y="31546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246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🏅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93008" y="3685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Listings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3008" y="40325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placement in the verified project directory.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63640" y="31546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3246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73368" y="3685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Access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73368" y="40325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building on CoraAiVault data must stake $CRVT.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DEFLATIONARY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goes down over time.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8229600" cy="868680"/>
          </a:xfrm>
          <a:prstGeom prst="roundRect">
            <a:avLst>
              <a:gd name="adj" fmla="val 94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Buyback &amp; Burn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2359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of revenue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66160" y="20116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BNB platform revenue used to buy $CRVT from open market and permanently burn it.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2907792"/>
            <a:ext cx="8229600" cy="868680"/>
          </a:xfrm>
          <a:prstGeom prst="roundRect">
            <a:avLst>
              <a:gd name="adj" fmla="val 94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999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Burns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33467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299923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of every $CRVT premium subscription burned rather than redistributed.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3895344"/>
            <a:ext cx="8229600" cy="868680"/>
          </a:xfrm>
          <a:prstGeom prst="roundRect">
            <a:avLst>
              <a:gd name="adj" fmla="val 94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39867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Burns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43342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voted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66160" y="398678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Holders vote quarterly on additional burn events based on platform performance.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revenue. Real distribution.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37160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54880" y="1783080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64608" y="185623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🔒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30368" y="18196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Creation Fees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230368" y="20299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 BNB / lock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754880" y="2304288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64608" y="237744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🤖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30368" y="234086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Subscriptions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230368" y="25511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$10–$50 / month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754880" y="2825496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64608" y="28986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🏅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230368" y="28620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Badges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230368" y="30723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$50–$200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754880" y="334670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64608" y="341985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🔌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30368" y="3383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Access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230368" y="35935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$CRVT stake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754880" y="3867912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394106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⭐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230368" y="39044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Listings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230368" y="4114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$100–$500 / mo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754880" y="4389120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64608" y="446227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📅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230368" y="4425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Vesting Engine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230368" y="46360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0.005 BNB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-914400"/>
            <a:ext cx="6400800" cy="6400800"/>
          </a:xfrm>
          <a:prstGeom prst="ellipse">
            <a:avLst/>
          </a:prstGeom>
          <a:solidFill>
            <a:srgbClr val="6C3CE1">
              <a:alpha val="12000"/>
            </a:srgbClr>
          </a:solidFill>
          <a:ln w="12700">
            <a:solidFill>
              <a:srgbClr val="6C3CE1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coraaivault.xyz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BingX · KuCoin · x.com/CoraAivault · t.me/coraaivault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$CRVT · 5,000,000,000 Supply · BNB Smart Chain · BSC Mainnet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0x429aAa8a83Ea0e4D10052e4aF4DDE75c8f8d1223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$CRVT Tokenomics 2025</dc:title>
  <dc:subject>PptxGenJS Presentation</dc:subject>
  <dc:creator>PptxGenJS</dc:creator>
  <cp:lastModifiedBy>PptxGenJS</cp:lastModifiedBy>
  <cp:revision>1</cp:revision>
  <dcterms:created xsi:type="dcterms:W3CDTF">2026-06-25T11:35:44Z</dcterms:created>
  <dcterms:modified xsi:type="dcterms:W3CDTF">2026-06-25T11:35:44Z</dcterms:modified>
</cp:coreProperties>
</file>