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8FF00"/>
              </a:solidFill>
              <a:effectLst/>
            </c:spPr>
          </c:dPt>
          <c:dPt>
            <c:idx val="1"/>
            <c:bubble3D val="0"/>
            <c:spPr>
              <a:solidFill>
                <a:srgbClr val="00D4AA"/>
              </a:solidFill>
              <a:effectLst/>
            </c:spPr>
          </c:dPt>
          <c:dPt>
            <c:idx val="2"/>
            <c:bubble3D val="0"/>
            <c:spPr>
              <a:solidFill>
                <a:srgbClr val="7B6FE8"/>
              </a:solidFill>
              <a:effectLst/>
            </c:spPr>
          </c:dPt>
          <c:dPt>
            <c:idx val="3"/>
            <c:bubble3D val="0"/>
            <c:spPr>
              <a:solidFill>
                <a:srgbClr val="FFD166"/>
              </a:solidFill>
              <a:effectLst/>
            </c:spPr>
          </c:dPt>
          <c:dPt>
            <c:idx val="4"/>
            <c:bubble3D val="0"/>
            <c:spPr>
              <a:solidFill>
                <a:srgbClr val="FF5733"/>
              </a:solidFill>
              <a:effectLst/>
            </c:spPr>
          </c:dPt>
          <c:dPt>
            <c:idx val="5"/>
            <c:bubble3D val="0"/>
            <c:spPr>
              <a:solidFill>
                <a:srgbClr val="38BDF8"/>
              </a:solidFill>
              <a:effectLst/>
            </c:spPr>
          </c:dPt>
          <c:dPt>
            <c:idx val="6"/>
            <c:bubble3D val="0"/>
            <c:spPr>
              <a:solidFill>
                <a:srgbClr val="A78BF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B0A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B0A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B0A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B0A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B0A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B0A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B0A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Ecosystem 30%</c:v>
                </c:pt>
                <c:pt idx="1">
                  <c:v>Liquidity 20%</c:v>
                </c:pt>
                <c:pt idx="2">
                  <c:v>Dev 15%</c:v>
                </c:pt>
                <c:pt idx="3">
                  <c:v>Treasury 10%</c:v>
                </c:pt>
                <c:pt idx="4">
                  <c:v>Marketing 10%</c:v>
                </c:pt>
                <c:pt idx="5">
                  <c:v>Team 10%</c:v>
                </c:pt>
                <c:pt idx="6">
                  <c:v>Advisors 5%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30</c:v>
                </c:pt>
                <c:pt idx="1">
                  <c:v>20</c:v>
                </c:pt>
                <c:pt idx="2">
                  <c:v>15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C4BFD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-1828800"/>
            <a:ext cx="7315200" cy="7315200"/>
          </a:xfrm>
          <a:prstGeom prst="ellipse">
            <a:avLst/>
          </a:prstGeom>
          <a:solidFill>
            <a:srgbClr val="6C3CE1">
              <a:alpha val="15000"/>
            </a:srgbClr>
          </a:solidFill>
          <a:ln w="12700">
            <a:solidFill>
              <a:srgbClr val="6C3CE1">
                <a:alpha val="1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7315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CORAAI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VAULT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PITCH DECK 2025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BingX · KuCoin · BSC Mainnet ·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CEX listing in Phase 2.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8138160" cy="0"/>
          </a:xfrm>
          <a:prstGeom prst="line">
            <a:avLst/>
          </a:prstGeom>
          <a:noFill/>
          <a:ln w="25400">
            <a:solidFill>
              <a:srgbClr val="332D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1719072"/>
            <a:ext cx="402336" cy="402336"/>
          </a:xfrm>
          <a:prstGeom prst="ellipse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3444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2148840"/>
            <a:ext cx="1572768" cy="2743200"/>
          </a:xfrm>
          <a:prstGeom prst="roundRect">
            <a:avLst>
              <a:gd name="adj" fmla="val 4651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2212848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" y="2578608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Done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84632" y="2880360"/>
            <a:ext cx="14264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BSC · Token locking · LP locking · dApp live · Scanner · Certificates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788920" y="1719072"/>
            <a:ext cx="402336" cy="40233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30552" y="123444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02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130552" y="2148840"/>
            <a:ext cx="1572768" cy="2743200"/>
          </a:xfrm>
          <a:prstGeom prst="roundRect">
            <a:avLst>
              <a:gd name="adj" fmla="val 4651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03704" y="2212848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&amp; CEX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03704" y="2578608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203704" y="2880360"/>
            <a:ext cx="14264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$CRVT launch · Coming to CEX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07992" y="1719072"/>
            <a:ext cx="402336" cy="402336"/>
          </a:xfrm>
          <a:prstGeom prst="ellipse">
            <a:avLst/>
          </a:prstGeom>
          <a:solidFill>
            <a:srgbClr val="7B6FE8"/>
          </a:solidFill>
          <a:ln w="12700">
            <a:solidFill>
              <a:srgbClr val="7B6F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9624" y="123444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6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03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849624" y="2148840"/>
            <a:ext cx="1572768" cy="2743200"/>
          </a:xfrm>
          <a:prstGeom prst="roundRect">
            <a:avLst>
              <a:gd name="adj" fmla="val 4651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22776" y="2212848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22776" y="2578608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" kern="0" dirty="0">
                <a:solidFill>
                  <a:srgbClr val="7B6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2025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922776" y="2880360"/>
            <a:ext cx="14264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Ethereum · Base · Polygon · Arbitrum · Staking · Governance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227064" y="1719072"/>
            <a:ext cx="402336" cy="40233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68696" y="123444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04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568696" y="2148840"/>
            <a:ext cx="1572768" cy="2743200"/>
          </a:xfrm>
          <a:prstGeom prst="roundRect">
            <a:avLst>
              <a:gd name="adj" fmla="val 4651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41848" y="2212848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Layer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41848" y="2578608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" kern="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2025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641848" y="2880360"/>
            <a:ext cx="14264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risk engine · Real-time scan · Wallet alerts · Trust scores · Mobile app · Subscriptions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946136" y="1719072"/>
            <a:ext cx="402336" cy="402336"/>
          </a:xfrm>
          <a:prstGeom prst="ellipse">
            <a:avLst/>
          </a:prstGeom>
          <a:solidFill>
            <a:srgbClr val="8B85A8"/>
          </a:solidFill>
          <a:ln w="12700">
            <a:solidFill>
              <a:srgbClr val="8B85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87768" y="123444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05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287768" y="2148840"/>
            <a:ext cx="1572768" cy="2743200"/>
          </a:xfrm>
          <a:prstGeom prst="roundRect">
            <a:avLst>
              <a:gd name="adj" fmla="val 4651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60920" y="2212848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60920" y="2578608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" kern="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7360920" y="2880360"/>
            <a:ext cx="14264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 · Institutional · DAO tools · Full governance · CEX expansion · 100k locks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FF5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5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 Billion </a:t>
            </a:r>
            <a:pPr indent="0" marL="0">
              <a:buNone/>
            </a:pPr>
            <a:r>
              <a:rPr lang="en-US" sz="2800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to rug pulls in 2023 alone.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3886200" cy="1280160"/>
          </a:xfrm>
          <a:prstGeom prst="roundRect">
            <a:avLst>
              <a:gd name="adj" fmla="val 7143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874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Rug Pulls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raise capital, lock nothing, drain liquidity and vanish.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1737360"/>
            <a:ext cx="3886200" cy="1280160"/>
          </a:xfrm>
          <a:prstGeom prst="roundRect">
            <a:avLst>
              <a:gd name="adj" fmla="val 7143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🎭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49240" y="1874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Locks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22860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 and reversible locks mean investors cannot verify.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3200400"/>
            <a:ext cx="3886200" cy="1280160"/>
          </a:xfrm>
          <a:prstGeom prst="roundRect">
            <a:avLst>
              <a:gd name="adj" fmla="val 7143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👁️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3337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Wallets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7490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Unlocked team wallets dump at launch. Price collapses.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3200400"/>
            <a:ext cx="3886200" cy="1280160"/>
          </a:xfrm>
          <a:prstGeom prst="roundRect">
            <a:avLst>
              <a:gd name="adj" fmla="val 7143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49240" y="3337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Standard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7490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universal trust verification for BSC investors.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Proof, not promises.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CoraAiVault replaces promises with immutable on-chain records. Smart contracts hold tokens nobody — including us — can access before the unlock date.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2240280"/>
            <a:ext cx="2651760" cy="2606040"/>
          </a:xfrm>
          <a:prstGeom prst="roundRect">
            <a:avLst>
              <a:gd name="adj" fmla="val 3509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3591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Locking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310128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locked, tokens cannot be moved by anyone until the unlock date. No admin override. No backdoor.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83280" y="2240280"/>
            <a:ext cx="2651760" cy="2606040"/>
          </a:xfrm>
          <a:prstGeom prst="roundRect">
            <a:avLst>
              <a:gd name="adj" fmla="val 3509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3591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2044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Transparency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20440" y="3310128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lock is visible on BSCScan. Anyone searches any wallet — real time.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63640" y="2240280"/>
            <a:ext cx="2651760" cy="2606040"/>
          </a:xfrm>
          <a:prstGeom prst="roundRect">
            <a:avLst>
              <a:gd name="adj" fmla="val 3509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23591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Risk Scanner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3310128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scanner flags dangerous functions before you lock or invest a single token.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investors check before they buy.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1848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12648" y="2057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Locking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12648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any BEP-20 token. Immutable.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37560" y="150876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61848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💧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47288" y="2057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Liquidity Locking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47288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PancakeSwap LP tokens.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72200" y="150876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61848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81928" y="2057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Vesting Engine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81928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Multi-tranche with cliff periods.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31546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26440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2648" y="3703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Scanner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2648" y="4023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risk score on any token.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37560" y="31546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326440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447288" y="3703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Explorer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47288" y="4023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any wallet, see all locks.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72200" y="31546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326440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📜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281928" y="3703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Certificates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81928" y="4023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Shareable proof for investors.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TOKENOMICS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$CRVT Token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C1929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17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5,000,000,000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7647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SUPPLY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651760" y="137160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C1929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1417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BEP-20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651760" y="17647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800600" y="137160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C1929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417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0600" y="17647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949440" y="137160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C1929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1417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49440" y="17647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INFLATION</a:t>
            </a:r>
            <a:endParaRPr lang="en-US" sz="7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274320" y="2286000"/>
          <a:ext cx="38404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4572000" y="2286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Utility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0" y="2788920"/>
            <a:ext cx="164592" cy="164592"/>
          </a:xfrm>
          <a:prstGeom prst="ellipse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28032" y="27432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discounts for holders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0" y="3209544"/>
            <a:ext cx="164592" cy="164592"/>
          </a:xfrm>
          <a:prstGeom prst="ellipse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28032" y="31638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voting rights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0" y="3630168"/>
            <a:ext cx="164592" cy="164592"/>
          </a:xfrm>
          <a:prstGeom prst="ellipse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28032" y="35844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security premium access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0" y="4050792"/>
            <a:ext cx="164592" cy="164592"/>
          </a:xfrm>
          <a:prstGeom prst="ellipse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28032" y="40050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Staking rewards from fees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72000" y="4471416"/>
            <a:ext cx="164592" cy="164592"/>
          </a:xfrm>
          <a:prstGeom prst="ellipse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28032" y="44256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revenue → Buyback &amp; Burn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MODEL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revenue from real usage.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76479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600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Vault Creation Fees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0.001 BNB / lock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5087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56048" y="176479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40680" y="1600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Subscriptions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4068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$10–$50 / month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6517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290779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743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Badges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$50–$200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6517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290779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🔌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40680" y="2743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Access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40680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$CRVT stake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7947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405079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⭐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3886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 Listings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4251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$100–$500 / mo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37947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405079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40680" y="3886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Vesting Engine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40680" y="4251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0.005 BNB / plan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Split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4681728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1C1929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7000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5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Buyback &amp; Burn  30%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651760" y="4681728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1C1929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51760" y="47000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💎 Staking  40%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00600" y="4681728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1C1929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47000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B6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Dev  20%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949440" y="4681728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1C1929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0" y="47000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🏦 Treasury  10%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on mainnet. Already working.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4023360" cy="713232"/>
          </a:xfrm>
          <a:prstGeom prst="roundRect">
            <a:avLst>
              <a:gd name="adj" fmla="val 8974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536192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contract deployed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97280" y="18470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BSC Mainnet — live and verified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46320" y="1463040"/>
            <a:ext cx="4023360" cy="713232"/>
          </a:xfrm>
          <a:prstGeom prst="roundRect">
            <a:avLst>
              <a:gd name="adj" fmla="val 8974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40680" y="1536192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dApp live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40680" y="18470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coraaivault.xyz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313432"/>
            <a:ext cx="4023360" cy="713232"/>
          </a:xfrm>
          <a:prstGeom prst="roundRect">
            <a:avLst>
              <a:gd name="adj" fmla="val 8974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386584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+ LP locking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97280" y="2697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BEP-20 token works now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2313432"/>
            <a:ext cx="4023360" cy="713232"/>
          </a:xfrm>
          <a:prstGeom prst="roundRect">
            <a:avLst>
              <a:gd name="adj" fmla="val 8974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40680" y="2386584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Vesting engine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40680" y="2697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Multi-tranche schedules live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3163824"/>
            <a:ext cx="4023360" cy="713232"/>
          </a:xfrm>
          <a:prstGeom prst="roundRect">
            <a:avLst>
              <a:gd name="adj" fmla="val 8974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3236976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scanner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97280" y="35478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risk analysis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163824"/>
            <a:ext cx="4023360" cy="713232"/>
          </a:xfrm>
          <a:prstGeom prst="roundRect">
            <a:avLst>
              <a:gd name="adj" fmla="val 8974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40680" y="3236976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certificates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40680" y="35478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Shareable proof for investors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4014216"/>
            <a:ext cx="4023360" cy="713232"/>
          </a:xfrm>
          <a:prstGeom prst="roundRect">
            <a:avLst>
              <a:gd name="adj" fmla="val 8974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178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🔄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97280" y="4087368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$CRVT token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97280" y="43982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deploying now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4014216"/>
            <a:ext cx="4023360" cy="713232"/>
          </a:xfrm>
          <a:prstGeom prst="roundRect">
            <a:avLst>
              <a:gd name="adj" fmla="val 8974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4178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🎯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40680" y="4087368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BingX + KuCoin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40680" y="43982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CEX listings targeted Phase 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0" y="-914400"/>
            <a:ext cx="6400800" cy="6400800"/>
          </a:xfrm>
          <a:prstGeom prst="ellipse">
            <a:avLst/>
          </a:prstGeom>
          <a:solidFill>
            <a:srgbClr val="6C3CE1">
              <a:alpha val="12000"/>
            </a:srgbClr>
          </a:solidFill>
          <a:ln w="12700">
            <a:solidFill>
              <a:srgbClr val="6C3CE1">
                <a:alpha val="1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coraaivault.xyz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BingX · KuCoin · x.com/CoraAivault · t.me/coraaivault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$CRVT · 5,000,000,000 Supply · BNB Smart Chain · BSC Mainnet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0x429aAa8a83Ea0e4D10052e4aF4DDE75c8f8d1223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2025</dc:title>
  <dc:subject>PptxGenJS Presentation</dc:subject>
  <dc:creator>PptxGenJS</dc:creator>
  <cp:lastModifiedBy>PptxGenJS</cp:lastModifiedBy>
  <cp:revision>1</cp:revision>
  <dcterms:created xsi:type="dcterms:W3CDTF">2026-06-25T11:35:44Z</dcterms:created>
  <dcterms:modified xsi:type="dcterms:W3CDTF">2026-06-25T11:35:44Z</dcterms:modified>
</cp:coreProperties>
</file>